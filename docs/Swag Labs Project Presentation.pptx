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588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520440"/>
            <a:ext cx="9144000" cy="1577077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520440"/>
            <a:ext cx="164592" cy="162306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00838F">
              <a:alpha val="30000"/>
            </a:srgbClr>
          </a:solidFill>
          <a:ln w="12700">
            <a:solidFill>
              <a:srgbClr val="00838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2926080"/>
            <a:ext cx="3200400" cy="3200400"/>
          </a:xfrm>
          <a:prstGeom prst="ellipse">
            <a:avLst/>
          </a:prstGeom>
          <a:solidFill>
            <a:srgbClr val="00838F">
              <a:alpha val="25000"/>
            </a:srgbClr>
          </a:solidFill>
          <a:ln w="12700">
            <a:solidFill>
              <a:srgbClr val="00838F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 LABS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B2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QA Testing Project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1847088"/>
            <a:ext cx="731520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993392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B2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Tester: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OSUJI CHIOMA SARAH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B2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Project: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TBD-STFB Capstone Project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B2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App: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saucedemo.com  (Sauce Labs)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B2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test cases  ·  14 defects  ·  5 user accounts  ·  78% pass rate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" y="361188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" y="39776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" y="429768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June 11, 2026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OSUJI CHIOMA SARAH |  TBD-STFB Capstone Project  |  saucedemo.com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4114800" cy="694944"/>
          </a:xfrm>
          <a:prstGeom prst="rect">
            <a:avLst/>
          </a:prstGeom>
          <a:solidFill>
            <a:srgbClr val="E0F7FA"/>
          </a:solidFill>
          <a:ln w="6350">
            <a:solidFill>
              <a:srgbClr val="0083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868680"/>
            <a:ext cx="502920" cy="694944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9784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9052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Overview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12161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 Labs — what it is and why it was chosen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709928"/>
            <a:ext cx="4114800" cy="694944"/>
          </a:xfrm>
          <a:prstGeom prst="rect">
            <a:avLst/>
          </a:prstGeom>
          <a:solidFill>
            <a:srgbClr val="E0F7FA"/>
          </a:solidFill>
          <a:ln w="6350">
            <a:solidFill>
              <a:srgbClr val="0083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709928"/>
            <a:ext cx="502920" cy="694944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81965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2688" y="17465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Plan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2688" y="2057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Scope, approach, techniques, and environment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551176"/>
            <a:ext cx="4114800" cy="694944"/>
          </a:xfrm>
          <a:prstGeom prst="rect">
            <a:avLst/>
          </a:prstGeom>
          <a:solidFill>
            <a:srgbClr val="E0F7FA"/>
          </a:solidFill>
          <a:ln w="6350">
            <a:solidFill>
              <a:srgbClr val="0083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551176"/>
            <a:ext cx="502920" cy="694944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66090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" y="25877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 Design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" y="28986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test cases across 8 modules and 5 accounts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392424"/>
            <a:ext cx="4114800" cy="694944"/>
          </a:xfrm>
          <a:prstGeom prst="rect">
            <a:avLst/>
          </a:prstGeom>
          <a:solidFill>
            <a:srgbClr val="E0F7FA"/>
          </a:solidFill>
          <a:ln w="6350">
            <a:solidFill>
              <a:srgbClr val="0083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392424"/>
            <a:ext cx="502920" cy="694944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5021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2688" y="3429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Execution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2688" y="37398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by module — 78% pass rate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868680"/>
            <a:ext cx="4114800" cy="694944"/>
          </a:xfrm>
          <a:prstGeom prst="rect">
            <a:avLst/>
          </a:prstGeom>
          <a:solidFill>
            <a:srgbClr val="E0F7FA"/>
          </a:solidFill>
          <a:ln w="6350">
            <a:solidFill>
              <a:srgbClr val="00838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868680"/>
            <a:ext cx="502920" cy="694944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9784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21808" y="9052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Identified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21808" y="12161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defects across 4 account types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1709928"/>
            <a:ext cx="4114800" cy="694944"/>
          </a:xfrm>
          <a:prstGeom prst="rect">
            <a:avLst/>
          </a:prstGeom>
          <a:solidFill>
            <a:srgbClr val="E0F7FA"/>
          </a:solidFill>
          <a:ln w="6350">
            <a:solidFill>
              <a:srgbClr val="00838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1709928"/>
            <a:ext cx="502920" cy="694944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181965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21808" y="17465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Critical Issues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21808" y="2057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 on the most severe findings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2551176"/>
            <a:ext cx="4114800" cy="694944"/>
          </a:xfrm>
          <a:prstGeom prst="rect">
            <a:avLst/>
          </a:prstGeom>
          <a:solidFill>
            <a:srgbClr val="E0F7FA"/>
          </a:solidFill>
          <a:ln w="6350">
            <a:solidFill>
              <a:srgbClr val="00838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2551176"/>
            <a:ext cx="502920" cy="694944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266090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321808" y="25877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Summary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21808" y="28986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Assessment, conclusions, and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OSUJI CHIOMA SARAH |  TBD-STFB Capstone Project  |  saucedemo.com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41248"/>
            <a:ext cx="4114800" cy="2011680"/>
          </a:xfrm>
          <a:prstGeom prst="rect">
            <a:avLst/>
          </a:prstGeom>
          <a:solidFill>
            <a:srgbClr val="B2EBF2"/>
          </a:solidFill>
          <a:ln w="6350">
            <a:solidFill>
              <a:srgbClr val="0083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869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the Application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252728"/>
            <a:ext cx="3840480" cy="0"/>
          </a:xfrm>
          <a:prstGeom prst="line">
            <a:avLst/>
          </a:prstGeom>
          <a:noFill/>
          <a:ln w="19050">
            <a:solidFill>
              <a:srgbClr val="FFB3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7160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</a:t>
            </a: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Swag Labs (SauceDemo)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7556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</a:t>
            </a: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Web-Based E-Commerce Demo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13969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URL:</a:t>
            </a: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saucedemo.com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52374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by:</a:t>
            </a: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Sauce Labs — for QA training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841248"/>
            <a:ext cx="4160520" cy="2011680"/>
          </a:xfrm>
          <a:prstGeom prst="rect">
            <a:avLst/>
          </a:prstGeom>
          <a:solidFill>
            <a:srgbClr val="F2F2F2"/>
          </a:solidFill>
          <a:ln w="6350">
            <a:solidFill>
              <a:srgbClr val="0083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8869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 Chose 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252728"/>
            <a:ext cx="3840480" cy="0"/>
          </a:xfrm>
          <a:prstGeom prst="line">
            <a:avLst/>
          </a:prstGeom>
          <a:noFill/>
          <a:ln w="19050">
            <a:solidFill>
              <a:srgbClr val="FFB3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1408176"/>
            <a:ext cx="146304" cy="146304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e-commerce flows to test end-to-end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73168" y="1792224"/>
            <a:ext cx="146304" cy="146304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92624" y="17556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accounts with intentional defects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73168" y="2176272"/>
            <a:ext cx="146304" cy="146304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92624" y="21396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functional, security &amp; performance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73168" y="2560320"/>
            <a:ext cx="146304" cy="146304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92624" y="25237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for a structured QA capstone project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2999232"/>
            <a:ext cx="8503920" cy="155448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044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User Accounts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" y="3401568"/>
            <a:ext cx="1572768" cy="1078992"/>
          </a:xfrm>
          <a:prstGeom prst="rect">
            <a:avLst/>
          </a:prstGeom>
          <a:solidFill>
            <a:srgbClr val="00838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419856"/>
            <a:ext cx="157276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standard_user
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behaviour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features work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039112" y="3401568"/>
            <a:ext cx="1572768" cy="1078992"/>
          </a:xfrm>
          <a:prstGeom prst="rect">
            <a:avLst/>
          </a:prstGeom>
          <a:solidFill>
            <a:srgbClr val="555555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39112" y="3419856"/>
            <a:ext cx="157276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locked_out_user
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at login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access app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30752" y="3401568"/>
            <a:ext cx="1572768" cy="1078992"/>
          </a:xfrm>
          <a:prstGeom prst="rect">
            <a:avLst/>
          </a:prstGeom>
          <a:solidFill>
            <a:srgbClr val="C0000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30752" y="3419856"/>
            <a:ext cx="157276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problem_user
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Critical defects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dead · Wrong images · Checkout bug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22392" y="3401568"/>
            <a:ext cx="1572768" cy="1078992"/>
          </a:xfrm>
          <a:prstGeom prst="rect">
            <a:avLst/>
          </a:prstGeom>
          <a:solidFill>
            <a:srgbClr val="E64A19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22392" y="3419856"/>
            <a:ext cx="157276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error_user
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High defects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alert · Cart limit · Checkout bug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114032" y="3401568"/>
            <a:ext cx="1572768" cy="1078992"/>
          </a:xfrm>
          <a:prstGeom prst="rect">
            <a:avLst/>
          </a:prstGeom>
          <a:solidFill>
            <a:srgbClr val="6D4C4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14032" y="3419856"/>
            <a:ext cx="157276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visual_user
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Medium defects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Unstable sort · Layout breaks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Plan Summary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OSUJI CHIOMA SARAH |  TBD-STFB Capstone Project  |  saucedemo.com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011680" cy="4572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22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201168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55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444752"/>
            <a:ext cx="146304" cy="146304"/>
          </a:xfrm>
          <a:prstGeom prst="ellipse">
            <a:avLst/>
          </a:prstGeom>
          <a:solidFill>
            <a:srgbClr val="00555A"/>
          </a:solidFill>
          <a:ln w="12700">
            <a:solidFill>
              <a:srgbClr val="005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389888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Login, Logout, Products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157984"/>
            <a:ext cx="146304" cy="146304"/>
          </a:xfrm>
          <a:prstGeom prst="ellipse">
            <a:avLst/>
          </a:prstGeom>
          <a:solidFill>
            <a:srgbClr val="00555A"/>
          </a:solidFill>
          <a:ln w="12700">
            <a:solidFill>
              <a:srgbClr val="0055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103120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Cart, Checkout, Navigation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871216"/>
            <a:ext cx="146304" cy="146304"/>
          </a:xfrm>
          <a:prstGeom prst="ellipse">
            <a:avLst/>
          </a:prstGeom>
          <a:solidFill>
            <a:srgbClr val="00555A"/>
          </a:solidFill>
          <a:ln w="12700">
            <a:solidFill>
              <a:srgbClr val="005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81635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Security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584448"/>
            <a:ext cx="146304" cy="146304"/>
          </a:xfrm>
          <a:prstGeom prst="ellipse">
            <a:avLst/>
          </a:prstGeom>
          <a:solidFill>
            <a:srgbClr val="00555A"/>
          </a:solidFill>
          <a:ln w="12700">
            <a:solidFill>
              <a:srgbClr val="0055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529584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 user accounts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822960"/>
            <a:ext cx="2011680" cy="4572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9" name="Text 17"/>
          <p:cNvSpPr/>
          <p:nvPr/>
        </p:nvSpPr>
        <p:spPr>
          <a:xfrm>
            <a:off x="2450592" y="822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450592" y="1280160"/>
            <a:ext cx="201168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87752" y="1444752"/>
            <a:ext cx="146304" cy="146304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98064" y="1389888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functional testing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87752" y="2157984"/>
            <a:ext cx="146304" cy="146304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98064" y="2103120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&amp; error testing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87752" y="2871216"/>
            <a:ext cx="146304" cy="146304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98064" y="281635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defect testing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87752" y="3584448"/>
            <a:ext cx="146304" cy="146304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98064" y="3529584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Cross-account comparison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26864" y="822960"/>
            <a:ext cx="201168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0" name="Text 28"/>
          <p:cNvSpPr/>
          <p:nvPr/>
        </p:nvSpPr>
        <p:spPr>
          <a:xfrm>
            <a:off x="4626864" y="822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626864" y="1280160"/>
            <a:ext cx="201168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64024" y="1444752"/>
            <a:ext cx="146304" cy="14630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74336" y="1389888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Equivalence partitioning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64024" y="2157984"/>
            <a:ext cx="146304" cy="14630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74336" y="2103120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value analysis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64024" y="2871216"/>
            <a:ext cx="146304" cy="14630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74336" y="281635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guessing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64024" y="3584448"/>
            <a:ext cx="146304" cy="14630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74336" y="3529584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flow testing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803136" y="822960"/>
            <a:ext cx="2011680" cy="4572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1" name="Text 39"/>
          <p:cNvSpPr/>
          <p:nvPr/>
        </p:nvSpPr>
        <p:spPr>
          <a:xfrm>
            <a:off x="6803136" y="822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Criteria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803136" y="1280160"/>
            <a:ext cx="201168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40296" y="1444752"/>
            <a:ext cx="146304" cy="146304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50608" y="1389888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49 TCs executed ✓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940296" y="2157984"/>
            <a:ext cx="146304" cy="146304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50608" y="2103120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defects logged ✓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940296" y="2871216"/>
            <a:ext cx="146304" cy="146304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50608" y="281635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 pass rate achieved ✓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940296" y="3584448"/>
            <a:ext cx="146304" cy="146304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50608" y="3529584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report complete ✓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 Design – 49 Test Cases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OSUJI CHIOMA SARAH |  TBD-STFB Capstone Project  |  saucedemo.com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990474"/>
              </p:ext>
            </p:extLst>
          </p:nvPr>
        </p:nvGraphicFramePr>
        <p:xfrm>
          <a:off x="274320" y="822960"/>
          <a:ext cx="8595360" cy="379171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Accounts Covered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Types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accounts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Valid/invalid credentials, locked user, empty fields, case sensitivity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standard_user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Logout flow, back-button security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Listing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standard_user, problem_user, error_user, visual_user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Display, images, sorting (4 options), per-account defects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standard_user, problem_user, error_user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Add/remove, badge persistence, cart limit defects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standard_user, problem_user, error_user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3-step flow, field validation, input binding bugs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Navigation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standard_user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Items, About link, Reset App State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 account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 expiration redirect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standard_user vs performance_glitch_user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Response time comparison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Execution Results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OSUJI CHIOMA SARAH |  TBD-STFB Capstone Project  |  saucedemo.com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1572768" cy="109728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91440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8600" y="1517904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84248" y="822960"/>
            <a:ext cx="1572768" cy="10972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1984248" y="91440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984248" y="1517904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39896" y="822960"/>
            <a:ext cx="1572768" cy="10972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739896" y="91440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739896" y="1517904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95544" y="822960"/>
            <a:ext cx="1572768" cy="109728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7" name="Text 15"/>
          <p:cNvSpPr/>
          <p:nvPr/>
        </p:nvSpPr>
        <p:spPr>
          <a:xfrm>
            <a:off x="5495544" y="91440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95544" y="1517904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51192" y="822960"/>
            <a:ext cx="1572768" cy="109728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20" name="Text 18"/>
          <p:cNvSpPr/>
          <p:nvPr/>
        </p:nvSpPr>
        <p:spPr>
          <a:xfrm>
            <a:off x="7251192" y="91440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251192" y="1517904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Rate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903974"/>
              </p:ext>
            </p:extLst>
          </p:nvPr>
        </p:nvGraphicFramePr>
        <p:xfrm>
          <a:off x="274320" y="2057400"/>
          <a:ext cx="7680960" cy="269748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97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Rate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Listing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Navigation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Identified – 14 Total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OSUJI CHIOMA SARAH |  TBD-STFB Capstone Project  |  saucedemo.com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1938528" cy="11887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41248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4320" y="1371600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problem_user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63677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Critical · 2 High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804672"/>
            <a:ext cx="1938528" cy="1188720"/>
          </a:xfrm>
          <a:prstGeom prst="rect">
            <a:avLst/>
          </a:prstGeom>
          <a:solidFill>
            <a:srgbClr val="E64A19"/>
          </a:solidFill>
          <a:ln/>
        </p:spPr>
      </p:sp>
      <p:sp>
        <p:nvSpPr>
          <p:cNvPr id="12" name="Text 10"/>
          <p:cNvSpPr/>
          <p:nvPr/>
        </p:nvSpPr>
        <p:spPr>
          <a:xfrm>
            <a:off x="2450592" y="841248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50592" y="1371600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error_user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63677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High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804672"/>
            <a:ext cx="1938528" cy="1188720"/>
          </a:xfrm>
          <a:prstGeom prst="rect">
            <a:avLst/>
          </a:prstGeom>
          <a:solidFill>
            <a:srgbClr val="6D4C41"/>
          </a:solidFill>
          <a:ln/>
        </p:spPr>
      </p:sp>
      <p:sp>
        <p:nvSpPr>
          <p:cNvPr id="16" name="Text 14"/>
          <p:cNvSpPr/>
          <p:nvPr/>
        </p:nvSpPr>
        <p:spPr>
          <a:xfrm>
            <a:off x="4626864" y="841248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26864" y="1371600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visual_user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26864" y="163677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High · 1 Medium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03136" y="804672"/>
            <a:ext cx="1938528" cy="118872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20" name="Text 18"/>
          <p:cNvSpPr/>
          <p:nvPr/>
        </p:nvSpPr>
        <p:spPr>
          <a:xfrm>
            <a:off x="6803136" y="841248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803136" y="1371600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All/Any Users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03136" y="163677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Medium · 2 Low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045053"/>
              </p:ext>
            </p:extLst>
          </p:nvPr>
        </p:nvGraphicFramePr>
        <p:xfrm>
          <a:off x="274320" y="2176272"/>
          <a:ext cx="8595360" cy="252374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04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Defect 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BUG-001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problem_user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Listing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6 cards show same wrong image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BUG-002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problem_user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Listing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Sort dropdown completely unresponsive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BUG-003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problem_user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Last Name input overwrites First Name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BUG-004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problem_user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3 specific items can be added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BUG-005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error_user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Listing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Sort triggers browser alert: 'Sorting is broken!'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BUG-006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error_user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3 specific items can be added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BUG-007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error_user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Last Name field completely unresponsive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BUG-008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visual_user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Listing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Sort order unstable — changes each 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Critical Issues – problem_user Account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OSUJI CHIOMA SARAH |  TBD-STFB Capstone Project  |  saucedemo.com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8595360" cy="1170432"/>
          </a:xfrm>
          <a:prstGeom prst="rect">
            <a:avLst/>
          </a:prstGeom>
          <a:solidFill>
            <a:srgbClr val="FFD7D7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04672"/>
            <a:ext cx="914400" cy="117043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841248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1280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BUG-001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61872" y="850392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Wrong Image on All 6 Product Cards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61872" y="115214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</a:t>
            </a: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card shows a dog with a ball — users cannot identify any product they are viewing or trying to buy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61872" y="144475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cause: Image-product mapping not applied for problem_user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066544"/>
            <a:ext cx="8595360" cy="1170432"/>
          </a:xfrm>
          <a:prstGeom prst="rect">
            <a:avLst/>
          </a:prstGeom>
          <a:solidFill>
            <a:srgbClr val="FCE4D6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066544"/>
            <a:ext cx="914400" cy="117043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10312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74320" y="25420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BUG-002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61872" y="2112264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Dropdown Completely Unresponsive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61872" y="241401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</a:t>
            </a: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Clicking any part of the dropdown has no effect — it does not open. Users cannot sort the catalogue at all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61872" y="270662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cause: Sort dropdown event binding disabled or missing for problem_user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328416"/>
            <a:ext cx="8595360" cy="1170432"/>
          </a:xfrm>
          <a:prstGeom prst="rect">
            <a:avLst/>
          </a:prstGeom>
          <a:solidFill>
            <a:srgbClr val="FFF9C4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28416"/>
            <a:ext cx="914400" cy="117043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36499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74320" y="380390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BUG-003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61872" y="337413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Name Input Overwrites First Name in Checkout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61872" y="367588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</a:t>
            </a: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Typing in Last Name replaces First Name value — Last Name stays empty. Checkout cannot proceed past Step 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61872" y="396849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cause: Classic input binding bug — both fields share the same state variable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Summary &amp; Key Findings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OSUJI CHIOMA SARAH |  TBD-STFB Capstone Project  |  saucedemo.com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8595360" cy="658368"/>
          </a:xfrm>
          <a:prstGeom prst="rect">
            <a:avLst/>
          </a:prstGeom>
          <a:solidFill>
            <a:srgbClr val="E0F7FA"/>
          </a:solidFill>
          <a:ln w="3810">
            <a:solidFill>
              <a:srgbClr val="0083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77824"/>
            <a:ext cx="502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84124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standard_user – Fully Functional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11247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features worked correctly. Login, cart, checkout, navigation, and session all passed. Used as the baseline for all cross-account comparisons.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554480"/>
            <a:ext cx="8595360" cy="658368"/>
          </a:xfrm>
          <a:prstGeom prst="rect">
            <a:avLst/>
          </a:prstGeom>
          <a:solidFill>
            <a:srgbClr val="FFD7D7"/>
          </a:solidFill>
          <a:ln w="3810">
            <a:solidFill>
              <a:srgbClr val="0083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627632"/>
            <a:ext cx="502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🐛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6112" y="159105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problem_user – 3 Critical, 2 High Defects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6112" y="1874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images on all 6 cards, non-functional sort dropdown, Last Name overwrites First Name in checkout. Cart limited to 3 specific items.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304288"/>
            <a:ext cx="8595360" cy="658368"/>
          </a:xfrm>
          <a:prstGeom prst="rect">
            <a:avLst/>
          </a:prstGeom>
          <a:solidFill>
            <a:srgbClr val="FCE4D6"/>
          </a:solidFill>
          <a:ln w="3810">
            <a:solidFill>
              <a:srgbClr val="0083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377440"/>
            <a:ext cx="502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6112" y="234086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error_user – 3 High Defects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262432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triggers an explicit browser alert. Last Name field unresponsive in checkout. Cart limited to 3 specific items (same as problem_user).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054096"/>
            <a:ext cx="8595360" cy="658368"/>
          </a:xfrm>
          <a:prstGeom prst="rect">
            <a:avLst/>
          </a:prstGeom>
          <a:solidFill>
            <a:srgbClr val="FFF9C4"/>
          </a:solidFill>
          <a:ln w="3810">
            <a:solidFill>
              <a:srgbClr val="0083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127248"/>
            <a:ext cx="502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96112" y="3090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visual_user – 1 High, 1 Medium Defect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6112" y="337413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order is non-deterministic — results change each time. Layout breaks on smaller screen sizes.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803904"/>
            <a:ext cx="8595360" cy="658368"/>
          </a:xfrm>
          <a:prstGeom prst="rect">
            <a:avLst/>
          </a:prstGeom>
          <a:solidFill>
            <a:srgbClr val="B2EBF2"/>
          </a:solidFill>
          <a:ln w="3810">
            <a:solidFill>
              <a:srgbClr val="0083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877056"/>
            <a:ext cx="502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96112" y="3840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Overall: 14 Defects · 78% Pass Rate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6112" y="412394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Critical · 5 High · 4 Medium · 2 Low. All defects appear intentional. standard_user experience is fully stable. Test cycle complete.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389120"/>
            <a:ext cx="109728" cy="75438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" y="443484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OSUJI CHIOMA SARAH |  TBD-STFB Capstone Project  |  saucedemo.com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0" y="2788920"/>
            <a:ext cx="640080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92608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1092</Words>
  <Application>Microsoft Office PowerPoint</Application>
  <PresentationFormat>On-screen Show (16:9)</PresentationFormat>
  <Paragraphs>287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Swag Labs – Manual QA Testing</dc:title>
  <dc:subject>PptxGenJS Presentation</dc:subject>
  <dc:creator>Osuji Chioma Sarah</dc:creator>
  <cp:lastModifiedBy>Sarah Osuji</cp:lastModifiedBy>
  <cp:revision>3</cp:revision>
  <dcterms:created xsi:type="dcterms:W3CDTF">2026-06-11T05:46:18Z</dcterms:created>
  <dcterms:modified xsi:type="dcterms:W3CDTF">2026-06-11T06:53:56Z</dcterms:modified>
</cp:coreProperties>
</file>